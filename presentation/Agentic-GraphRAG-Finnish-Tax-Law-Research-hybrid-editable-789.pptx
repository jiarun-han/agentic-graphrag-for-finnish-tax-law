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58"/>
  </p:normalViewPr>
  <p:slideViewPr>
    <p:cSldViewPr snapToGrid="0">
      <p:cViewPr>
        <p:scale>
          <a:sx n="140" d="100"/>
          <a:sy n="140" d="100"/>
        </p:scale>
        <p:origin x="32" y="-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5B67A-3D87-3C46-B382-C9DC477ABA7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348C-529D-214F-B925-4C18C988E00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470" y="966801"/>
            <a:ext cx="6682884" cy="5125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rid vertical"/>
          <p:cNvSpPr txBox="1"/>
          <p:nvPr/>
        </p:nvSpPr>
        <p:spPr>
          <a:xfrm>
            <a:off x="514807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Grid vertical"/>
          <p:cNvSpPr txBox="1"/>
          <p:nvPr/>
        </p:nvSpPr>
        <p:spPr>
          <a:xfrm>
            <a:off x="567842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Grid vertical"/>
          <p:cNvSpPr txBox="1"/>
          <p:nvPr/>
        </p:nvSpPr>
        <p:spPr>
          <a:xfrm>
            <a:off x="620877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Grid vertical"/>
          <p:cNvSpPr txBox="1"/>
          <p:nvPr/>
        </p:nvSpPr>
        <p:spPr>
          <a:xfrm>
            <a:off x="673912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Grid vertical"/>
          <p:cNvSpPr txBox="1"/>
          <p:nvPr/>
        </p:nvSpPr>
        <p:spPr>
          <a:xfrm>
            <a:off x="726948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Grid vertical"/>
          <p:cNvSpPr txBox="1"/>
          <p:nvPr/>
        </p:nvSpPr>
        <p:spPr>
          <a:xfrm>
            <a:off x="779983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Grid vertical"/>
          <p:cNvSpPr txBox="1"/>
          <p:nvPr/>
        </p:nvSpPr>
        <p:spPr>
          <a:xfrm>
            <a:off x="833018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Grid vertical"/>
          <p:cNvSpPr txBox="1"/>
          <p:nvPr/>
        </p:nvSpPr>
        <p:spPr>
          <a:xfrm>
            <a:off x="886053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Grid vertical"/>
          <p:cNvSpPr txBox="1"/>
          <p:nvPr/>
        </p:nvSpPr>
        <p:spPr>
          <a:xfrm>
            <a:off x="939088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Grid vertical"/>
          <p:cNvSpPr txBox="1"/>
          <p:nvPr/>
        </p:nvSpPr>
        <p:spPr>
          <a:xfrm>
            <a:off x="992124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Grid vertical"/>
          <p:cNvSpPr txBox="1"/>
          <p:nvPr/>
        </p:nvSpPr>
        <p:spPr>
          <a:xfrm>
            <a:off x="1045159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Grid horizontal"/>
          <p:cNvSpPr txBox="1"/>
          <p:nvPr/>
        </p:nvSpPr>
        <p:spPr>
          <a:xfrm>
            <a:off x="4617720" y="151790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Grid horizontal"/>
          <p:cNvSpPr txBox="1"/>
          <p:nvPr/>
        </p:nvSpPr>
        <p:spPr>
          <a:xfrm>
            <a:off x="4617720" y="204825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rid horizontal"/>
          <p:cNvSpPr txBox="1"/>
          <p:nvPr/>
        </p:nvSpPr>
        <p:spPr>
          <a:xfrm>
            <a:off x="4617720" y="2578608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Grid horizontal"/>
          <p:cNvSpPr txBox="1"/>
          <p:nvPr/>
        </p:nvSpPr>
        <p:spPr>
          <a:xfrm>
            <a:off x="4617720" y="3108960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rid horizontal"/>
          <p:cNvSpPr txBox="1"/>
          <p:nvPr/>
        </p:nvSpPr>
        <p:spPr>
          <a:xfrm>
            <a:off x="4617720" y="3639312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Grid horizontal"/>
          <p:cNvSpPr txBox="1"/>
          <p:nvPr/>
        </p:nvSpPr>
        <p:spPr>
          <a:xfrm>
            <a:off x="4617720" y="416966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rid horizontal"/>
          <p:cNvSpPr txBox="1"/>
          <p:nvPr/>
        </p:nvSpPr>
        <p:spPr>
          <a:xfrm>
            <a:off x="4617720" y="470001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Question label"/>
          <p:cNvSpPr txBox="1"/>
          <p:nvPr/>
        </p:nvSpPr>
        <p:spPr>
          <a:xfrm>
            <a:off x="5212080" y="14813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QUESTION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5" name="01"/>
          <p:cNvSpPr txBox="1"/>
          <p:nvPr/>
        </p:nvSpPr>
        <p:spPr>
          <a:xfrm>
            <a:off x="7863840" y="1325880"/>
            <a:ext cx="1417320" cy="658368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1 label"/>
          <p:cNvSpPr txBox="1"/>
          <p:nvPr/>
        </p:nvSpPr>
        <p:spPr>
          <a:xfrm>
            <a:off x="8001000" y="146304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01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7" name="01 body"/>
          <p:cNvSpPr txBox="1"/>
          <p:nvPr/>
        </p:nvSpPr>
        <p:spPr>
          <a:xfrm>
            <a:off x="8001000" y="171907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multilingual-e5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vector search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1" name="03"/>
          <p:cNvSpPr txBox="1"/>
          <p:nvPr/>
        </p:nvSpPr>
        <p:spPr>
          <a:xfrm>
            <a:off x="8001000" y="2971800"/>
            <a:ext cx="1417320" cy="658368"/>
          </a:xfrm>
          <a:prstGeom prst="rect">
            <a:avLst/>
          </a:prstGeom>
          <a:solidFill>
            <a:srgbClr val="F4DED4"/>
          </a:solidFill>
          <a:ln w="9525">
            <a:solidFill>
              <a:srgbClr val="D76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03 label"/>
          <p:cNvSpPr txBox="1"/>
          <p:nvPr/>
        </p:nvSpPr>
        <p:spPr>
          <a:xfrm>
            <a:off x="8138160" y="310896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D7623C"/>
                </a:solidFill>
                <a:latin typeface="Aptos"/>
              </a:rPr>
              <a:t>03</a:t>
            </a:r>
            <a:endParaRPr lang="en-US" sz="750" dirty="0">
              <a:solidFill>
                <a:srgbClr val="D7623C"/>
              </a:solidFill>
              <a:latin typeface="Aptos"/>
            </a:endParaRPr>
          </a:p>
        </p:txBody>
      </p:sp>
      <p:sp>
        <p:nvSpPr>
          <p:cNvPr id="33" name="03 body"/>
          <p:cNvSpPr txBox="1"/>
          <p:nvPr/>
        </p:nvSpPr>
        <p:spPr>
          <a:xfrm>
            <a:off x="8138160" y="336499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graph traversal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5" name="04 label"/>
          <p:cNvSpPr txBox="1"/>
          <p:nvPr/>
        </p:nvSpPr>
        <p:spPr>
          <a:xfrm>
            <a:off x="9280243" y="4126687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04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38" name="05 label"/>
          <p:cNvSpPr txBox="1"/>
          <p:nvPr/>
        </p:nvSpPr>
        <p:spPr>
          <a:xfrm>
            <a:off x="7909560" y="50292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05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41" name="Neighborhood label"/>
          <p:cNvSpPr txBox="1"/>
          <p:nvPr/>
        </p:nvSpPr>
        <p:spPr>
          <a:xfrm>
            <a:off x="5257800" y="44988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800" dirty="0">
                <a:solidFill>
                  <a:srgbClr val="6F665D"/>
                </a:solidFill>
                <a:latin typeface="Aptos"/>
              </a:rPr>
              <a:t>LEGAL NEIGHBORHOOD</a:t>
            </a:r>
            <a:endParaRPr lang="en-US" sz="80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42" name="Graph dot"/>
          <p:cNvSpPr txBox="1"/>
          <p:nvPr/>
        </p:nvSpPr>
        <p:spPr>
          <a:xfrm>
            <a:off x="5715000" y="3794760"/>
            <a:ext cx="128016" cy="128016"/>
          </a:xfrm>
          <a:prstGeom prst="roundRect">
            <a:avLst/>
          </a:prstGeom>
          <a:solidFill>
            <a:srgbClr val="D7623C"/>
          </a:solidFill>
          <a:ln w="9525">
            <a:solidFill>
              <a:srgbClr val="D76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Graph dot"/>
          <p:cNvSpPr txBox="1"/>
          <p:nvPr/>
        </p:nvSpPr>
        <p:spPr>
          <a:xfrm>
            <a:off x="6355080" y="3493008"/>
            <a:ext cx="128016" cy="128016"/>
          </a:xfrm>
          <a:prstGeom prst="roundRect">
            <a:avLst/>
          </a:prstGeom>
          <a:solidFill>
            <a:srgbClr val="F6F0E6"/>
          </a:solidFill>
          <a:ln w="9525">
            <a:solidFill>
              <a:srgbClr val="17130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Graph dot"/>
          <p:cNvSpPr txBox="1"/>
          <p:nvPr/>
        </p:nvSpPr>
        <p:spPr>
          <a:xfrm>
            <a:off x="6629400" y="4206240"/>
            <a:ext cx="128016" cy="128016"/>
          </a:xfrm>
          <a:prstGeom prst="roundRect">
            <a:avLst/>
          </a:prstGeom>
          <a:solidFill>
            <a:srgbClr val="F6F0E6"/>
          </a:solidFill>
          <a:ln w="9525">
            <a:solidFill>
              <a:srgbClr val="17130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Graph dot"/>
          <p:cNvSpPr txBox="1"/>
          <p:nvPr/>
        </p:nvSpPr>
        <p:spPr>
          <a:xfrm>
            <a:off x="5897880" y="4434840"/>
            <a:ext cx="128016" cy="128016"/>
          </a:xfrm>
          <a:prstGeom prst="roundRect">
            <a:avLst/>
          </a:prstGeom>
          <a:solidFill>
            <a:srgbClr val="F6F0E6"/>
          </a:solidFill>
          <a:ln w="9525">
            <a:solidFill>
              <a:srgbClr val="17130F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6" name="Line"/>
          <p:cNvCxnSpPr/>
          <p:nvPr/>
        </p:nvCxnSpPr>
        <p:spPr>
          <a:xfrm flipV="1">
            <a:off x="7178040" y="1691640"/>
            <a:ext cx="685800" cy="18288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7" name="Line"/>
          <p:cNvCxnSpPr/>
          <p:nvPr/>
        </p:nvCxnSpPr>
        <p:spPr>
          <a:xfrm>
            <a:off x="8577072" y="1984248"/>
            <a:ext cx="521208" cy="41148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8" name="Line"/>
          <p:cNvCxnSpPr/>
          <p:nvPr/>
        </p:nvCxnSpPr>
        <p:spPr>
          <a:xfrm flipH="1">
            <a:off x="8823960" y="2715768"/>
            <a:ext cx="484632" cy="256032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9" name="Line"/>
          <p:cNvCxnSpPr/>
          <p:nvPr/>
        </p:nvCxnSpPr>
        <p:spPr>
          <a:xfrm>
            <a:off x="8732520" y="3630168"/>
            <a:ext cx="411480" cy="667512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50" name="Line"/>
          <p:cNvCxnSpPr/>
          <p:nvPr/>
        </p:nvCxnSpPr>
        <p:spPr>
          <a:xfrm flipH="1">
            <a:off x="8458200" y="4617720"/>
            <a:ext cx="685800" cy="27432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51" name="Line"/>
          <p:cNvCxnSpPr/>
          <p:nvPr/>
        </p:nvCxnSpPr>
        <p:spPr>
          <a:xfrm flipV="1">
            <a:off x="5779008" y="3557016"/>
            <a:ext cx="640080" cy="301752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52" name="Line"/>
          <p:cNvCxnSpPr/>
          <p:nvPr/>
        </p:nvCxnSpPr>
        <p:spPr>
          <a:xfrm>
            <a:off x="5779008" y="3858768"/>
            <a:ext cx="914400" cy="41148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53" name="Line"/>
          <p:cNvCxnSpPr/>
          <p:nvPr/>
        </p:nvCxnSpPr>
        <p:spPr>
          <a:xfrm flipV="1">
            <a:off x="5897880" y="4206240"/>
            <a:ext cx="731520" cy="228600"/>
          </a:xfrm>
          <a:prstGeom prst="line">
            <a:avLst/>
          </a:prstGeom>
          <a:ln w="12700">
            <a:solidFill>
              <a:srgbClr val="D8CEC0"/>
            </a:solidFill>
          </a:ln>
        </p:spPr>
      </p:cxn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091" y="1208811"/>
            <a:ext cx="6013558" cy="45626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rid vertical"/>
          <p:cNvSpPr txBox="1"/>
          <p:nvPr/>
        </p:nvSpPr>
        <p:spPr>
          <a:xfrm>
            <a:off x="514807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Grid vertical"/>
          <p:cNvSpPr txBox="1"/>
          <p:nvPr/>
        </p:nvSpPr>
        <p:spPr>
          <a:xfrm>
            <a:off x="567842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Grid vertical"/>
          <p:cNvSpPr txBox="1"/>
          <p:nvPr/>
        </p:nvSpPr>
        <p:spPr>
          <a:xfrm>
            <a:off x="620877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Grid vertical"/>
          <p:cNvSpPr txBox="1"/>
          <p:nvPr/>
        </p:nvSpPr>
        <p:spPr>
          <a:xfrm>
            <a:off x="673912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Grid vertical"/>
          <p:cNvSpPr txBox="1"/>
          <p:nvPr/>
        </p:nvSpPr>
        <p:spPr>
          <a:xfrm>
            <a:off x="726948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Grid vertical"/>
          <p:cNvSpPr txBox="1"/>
          <p:nvPr/>
        </p:nvSpPr>
        <p:spPr>
          <a:xfrm>
            <a:off x="779983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Grid vertical"/>
          <p:cNvSpPr txBox="1"/>
          <p:nvPr/>
        </p:nvSpPr>
        <p:spPr>
          <a:xfrm>
            <a:off x="833018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Grid vertical"/>
          <p:cNvSpPr txBox="1"/>
          <p:nvPr/>
        </p:nvSpPr>
        <p:spPr>
          <a:xfrm>
            <a:off x="886053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Grid vertical"/>
          <p:cNvSpPr txBox="1"/>
          <p:nvPr/>
        </p:nvSpPr>
        <p:spPr>
          <a:xfrm>
            <a:off x="939088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Grid vertical"/>
          <p:cNvSpPr txBox="1"/>
          <p:nvPr/>
        </p:nvSpPr>
        <p:spPr>
          <a:xfrm>
            <a:off x="992124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Grid vertical"/>
          <p:cNvSpPr txBox="1"/>
          <p:nvPr/>
        </p:nvSpPr>
        <p:spPr>
          <a:xfrm>
            <a:off x="1045159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Grid horizontal"/>
          <p:cNvSpPr txBox="1"/>
          <p:nvPr/>
        </p:nvSpPr>
        <p:spPr>
          <a:xfrm>
            <a:off x="4617720" y="151790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Grid horizontal"/>
          <p:cNvSpPr txBox="1"/>
          <p:nvPr/>
        </p:nvSpPr>
        <p:spPr>
          <a:xfrm>
            <a:off x="4617720" y="204825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rid horizontal"/>
          <p:cNvSpPr txBox="1"/>
          <p:nvPr/>
        </p:nvSpPr>
        <p:spPr>
          <a:xfrm>
            <a:off x="4617720" y="2578608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Grid horizontal"/>
          <p:cNvSpPr txBox="1"/>
          <p:nvPr/>
        </p:nvSpPr>
        <p:spPr>
          <a:xfrm>
            <a:off x="4617720" y="3108960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rid horizontal"/>
          <p:cNvSpPr txBox="1"/>
          <p:nvPr/>
        </p:nvSpPr>
        <p:spPr>
          <a:xfrm>
            <a:off x="4617720" y="3639312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Grid horizontal"/>
          <p:cNvSpPr txBox="1"/>
          <p:nvPr/>
        </p:nvSpPr>
        <p:spPr>
          <a:xfrm>
            <a:off x="4617720" y="416966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rid horizontal"/>
          <p:cNvSpPr txBox="1"/>
          <p:nvPr/>
        </p:nvSpPr>
        <p:spPr>
          <a:xfrm>
            <a:off x="4617720" y="470001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/>
          <p:cNvSpPr txBox="1"/>
          <p:nvPr/>
        </p:nvSpPr>
        <p:spPr>
          <a:xfrm>
            <a:off x="7315200" y="1600200"/>
            <a:ext cx="1417320" cy="6858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01 label"/>
          <p:cNvSpPr txBox="1"/>
          <p:nvPr/>
        </p:nvSpPr>
        <p:spPr>
          <a:xfrm>
            <a:off x="7452360" y="173736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01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4" name="01 body"/>
          <p:cNvSpPr txBox="1"/>
          <p:nvPr/>
        </p:nvSpPr>
        <p:spPr>
          <a:xfrm>
            <a:off x="7452360" y="199339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Clarifier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25" name="02"/>
          <p:cNvSpPr txBox="1"/>
          <p:nvPr/>
        </p:nvSpPr>
        <p:spPr>
          <a:xfrm>
            <a:off x="9052560" y="2606040"/>
            <a:ext cx="1417320" cy="6858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 label"/>
          <p:cNvSpPr txBox="1"/>
          <p:nvPr/>
        </p:nvSpPr>
        <p:spPr>
          <a:xfrm>
            <a:off x="9189720" y="27432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02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7" name="02 body"/>
          <p:cNvSpPr txBox="1"/>
          <p:nvPr/>
        </p:nvSpPr>
        <p:spPr>
          <a:xfrm>
            <a:off x="9189720" y="29992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Planner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28" name="03"/>
          <p:cNvSpPr txBox="1"/>
          <p:nvPr/>
        </p:nvSpPr>
        <p:spPr>
          <a:xfrm>
            <a:off x="7315200" y="4572000"/>
            <a:ext cx="1417320" cy="6858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03 label"/>
          <p:cNvSpPr txBox="1"/>
          <p:nvPr/>
        </p:nvSpPr>
        <p:spPr>
          <a:xfrm>
            <a:off x="7452360" y="470916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03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30" name="03 body"/>
          <p:cNvSpPr txBox="1"/>
          <p:nvPr/>
        </p:nvSpPr>
        <p:spPr>
          <a:xfrm>
            <a:off x="7452360" y="496519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Retriever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1" name="04"/>
          <p:cNvSpPr txBox="1"/>
          <p:nvPr/>
        </p:nvSpPr>
        <p:spPr>
          <a:xfrm>
            <a:off x="5577840" y="2606040"/>
            <a:ext cx="1417320" cy="6858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04 label"/>
          <p:cNvSpPr txBox="1"/>
          <p:nvPr/>
        </p:nvSpPr>
        <p:spPr>
          <a:xfrm>
            <a:off x="5715000" y="27432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04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33" name="04 body"/>
          <p:cNvSpPr txBox="1"/>
          <p:nvPr/>
        </p:nvSpPr>
        <p:spPr>
          <a:xfrm>
            <a:off x="5715000" y="29992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Answer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Generator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4" name="05"/>
          <p:cNvSpPr txBox="1"/>
          <p:nvPr/>
        </p:nvSpPr>
        <p:spPr>
          <a:xfrm>
            <a:off x="7315200" y="3246120"/>
            <a:ext cx="1417320" cy="685800"/>
          </a:xfrm>
          <a:prstGeom prst="rect">
            <a:avLst/>
          </a:prstGeom>
          <a:solidFill>
            <a:srgbClr val="F4DED4"/>
          </a:solidFill>
          <a:ln w="9525">
            <a:solidFill>
              <a:srgbClr val="D76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05 label"/>
          <p:cNvSpPr txBox="1"/>
          <p:nvPr/>
        </p:nvSpPr>
        <p:spPr>
          <a:xfrm>
            <a:off x="7452360" y="338328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D7623C"/>
                </a:solidFill>
                <a:latin typeface="Aptos"/>
              </a:rPr>
              <a:t>05</a:t>
            </a:r>
            <a:endParaRPr lang="en-US" sz="750" dirty="0">
              <a:solidFill>
                <a:srgbClr val="D7623C"/>
              </a:solidFill>
              <a:latin typeface="Aptos"/>
            </a:endParaRPr>
          </a:p>
        </p:txBody>
      </p:sp>
      <p:sp>
        <p:nvSpPr>
          <p:cNvPr id="36" name="05 body"/>
          <p:cNvSpPr txBox="1"/>
          <p:nvPr/>
        </p:nvSpPr>
        <p:spPr>
          <a:xfrm>
            <a:off x="7452360" y="36393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Verifier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7" name="Center note"/>
          <p:cNvSpPr txBox="1"/>
          <p:nvPr/>
        </p:nvSpPr>
        <p:spPr>
          <a:xfrm>
            <a:off x="6949440" y="416052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600" dirty="0">
                <a:solidFill>
                  <a:srgbClr val="6F665D"/>
                </a:solidFill>
                <a:latin typeface="Georgia" panose="02040502050405020303"/>
              </a:rPr>
              <a:t>Verify claims before final answer</a:t>
            </a:r>
            <a:endParaRPr lang="en-US" sz="1600" dirty="0">
              <a:solidFill>
                <a:srgbClr val="6F665D"/>
              </a:solidFill>
              <a:latin typeface="Georgia" panose="02040502050405020303"/>
            </a:endParaRPr>
          </a:p>
        </p:txBody>
      </p:sp>
      <p:sp>
        <p:nvSpPr>
          <p:cNvPr id="38" name="Retry label"/>
          <p:cNvSpPr txBox="1"/>
          <p:nvPr/>
        </p:nvSpPr>
        <p:spPr>
          <a:xfrm>
            <a:off x="6812280" y="29443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D7623C"/>
                </a:solidFill>
                <a:latin typeface="Aptos"/>
              </a:rPr>
              <a:t>RETRY</a:t>
            </a:r>
            <a:endParaRPr lang="en-US" sz="750" dirty="0">
              <a:solidFill>
                <a:srgbClr val="D7623C"/>
              </a:solidFill>
              <a:latin typeface="Aptos"/>
            </a:endParaRPr>
          </a:p>
        </p:txBody>
      </p:sp>
      <p:cxnSp>
        <p:nvCxnSpPr>
          <p:cNvPr id="39" name="Line"/>
          <p:cNvCxnSpPr/>
          <p:nvPr/>
        </p:nvCxnSpPr>
        <p:spPr>
          <a:xfrm>
            <a:off x="8028432" y="2286000"/>
            <a:ext cx="1024128" cy="658368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0" name="Line"/>
          <p:cNvCxnSpPr/>
          <p:nvPr/>
        </p:nvCxnSpPr>
        <p:spPr>
          <a:xfrm flipH="1">
            <a:off x="8028432" y="3291840"/>
            <a:ext cx="1024128" cy="128016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1" name="Line"/>
          <p:cNvCxnSpPr/>
          <p:nvPr/>
        </p:nvCxnSpPr>
        <p:spPr>
          <a:xfrm flipH="1" flipV="1">
            <a:off x="6291072" y="3291840"/>
            <a:ext cx="1024128" cy="1627632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2" name="Line"/>
          <p:cNvCxnSpPr/>
          <p:nvPr/>
        </p:nvCxnSpPr>
        <p:spPr>
          <a:xfrm>
            <a:off x="6995160" y="2944368"/>
            <a:ext cx="320040" cy="64008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812" y="987552"/>
            <a:ext cx="6864096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rid vertical"/>
          <p:cNvSpPr txBox="1"/>
          <p:nvPr/>
        </p:nvSpPr>
        <p:spPr>
          <a:xfrm>
            <a:off x="514807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Grid vertical"/>
          <p:cNvSpPr txBox="1"/>
          <p:nvPr/>
        </p:nvSpPr>
        <p:spPr>
          <a:xfrm>
            <a:off x="567842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Grid vertical"/>
          <p:cNvSpPr txBox="1"/>
          <p:nvPr/>
        </p:nvSpPr>
        <p:spPr>
          <a:xfrm>
            <a:off x="620877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Grid vertical"/>
          <p:cNvSpPr txBox="1"/>
          <p:nvPr/>
        </p:nvSpPr>
        <p:spPr>
          <a:xfrm>
            <a:off x="673912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Grid vertical"/>
          <p:cNvSpPr txBox="1"/>
          <p:nvPr/>
        </p:nvSpPr>
        <p:spPr>
          <a:xfrm>
            <a:off x="726948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Grid vertical"/>
          <p:cNvSpPr txBox="1"/>
          <p:nvPr/>
        </p:nvSpPr>
        <p:spPr>
          <a:xfrm>
            <a:off x="779983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Grid vertical"/>
          <p:cNvSpPr txBox="1"/>
          <p:nvPr/>
        </p:nvSpPr>
        <p:spPr>
          <a:xfrm>
            <a:off x="8330184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Grid vertical"/>
          <p:cNvSpPr txBox="1"/>
          <p:nvPr/>
        </p:nvSpPr>
        <p:spPr>
          <a:xfrm>
            <a:off x="8860536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Grid vertical"/>
          <p:cNvSpPr txBox="1"/>
          <p:nvPr/>
        </p:nvSpPr>
        <p:spPr>
          <a:xfrm>
            <a:off x="9390888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Grid vertical"/>
          <p:cNvSpPr txBox="1"/>
          <p:nvPr/>
        </p:nvSpPr>
        <p:spPr>
          <a:xfrm>
            <a:off x="9921240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Grid vertical"/>
          <p:cNvSpPr txBox="1"/>
          <p:nvPr/>
        </p:nvSpPr>
        <p:spPr>
          <a:xfrm>
            <a:off x="10451592" y="987552"/>
            <a:ext cx="3658" cy="5257800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Grid horizontal"/>
          <p:cNvSpPr txBox="1"/>
          <p:nvPr/>
        </p:nvSpPr>
        <p:spPr>
          <a:xfrm>
            <a:off x="4617720" y="151790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Grid horizontal"/>
          <p:cNvSpPr txBox="1"/>
          <p:nvPr/>
        </p:nvSpPr>
        <p:spPr>
          <a:xfrm>
            <a:off x="4617720" y="204825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rid horizontal"/>
          <p:cNvSpPr txBox="1"/>
          <p:nvPr/>
        </p:nvSpPr>
        <p:spPr>
          <a:xfrm>
            <a:off x="4617720" y="2578608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Grid horizontal"/>
          <p:cNvSpPr txBox="1"/>
          <p:nvPr/>
        </p:nvSpPr>
        <p:spPr>
          <a:xfrm>
            <a:off x="4617720" y="3108960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rid horizontal"/>
          <p:cNvSpPr txBox="1"/>
          <p:nvPr/>
        </p:nvSpPr>
        <p:spPr>
          <a:xfrm>
            <a:off x="4617720" y="3639312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Grid horizontal"/>
          <p:cNvSpPr txBox="1"/>
          <p:nvPr/>
        </p:nvSpPr>
        <p:spPr>
          <a:xfrm>
            <a:off x="4617720" y="4169664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rid horizontal"/>
          <p:cNvSpPr txBox="1"/>
          <p:nvPr/>
        </p:nvSpPr>
        <p:spPr>
          <a:xfrm>
            <a:off x="4617720" y="4700016"/>
            <a:ext cx="6720840" cy="3658"/>
          </a:xfrm>
          <a:prstGeom prst="rect">
            <a:avLst/>
          </a:prstGeom>
          <a:solidFill>
            <a:srgbClr val="EEE4D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xample question"/>
          <p:cNvSpPr txBox="1"/>
          <p:nvPr/>
        </p:nvSpPr>
        <p:spPr>
          <a:xfrm>
            <a:off x="5074920" y="1691640"/>
            <a:ext cx="2331720" cy="132588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Example question label"/>
          <p:cNvSpPr txBox="1"/>
          <p:nvPr/>
        </p:nvSpPr>
        <p:spPr>
          <a:xfrm>
            <a:off x="5212080" y="182880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EXAMPLE QUESTION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4" name="Example question body"/>
          <p:cNvSpPr txBox="1"/>
          <p:nvPr/>
        </p:nvSpPr>
        <p:spPr>
          <a:xfrm>
            <a:off x="5212080" y="2084832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“What is the capital income tax rate for income exceeding 30,000 euros?”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25" name="Planner"/>
          <p:cNvSpPr txBox="1"/>
          <p:nvPr/>
        </p:nvSpPr>
        <p:spPr>
          <a:xfrm>
            <a:off x="7818120" y="1691640"/>
            <a:ext cx="1554480" cy="11430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Planner label"/>
          <p:cNvSpPr txBox="1"/>
          <p:nvPr/>
        </p:nvSpPr>
        <p:spPr>
          <a:xfrm>
            <a:off x="7955280" y="18288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PLANNER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27" name="Planner body"/>
          <p:cNvSpPr txBox="1"/>
          <p:nvPr/>
        </p:nvSpPr>
        <p:spPr>
          <a:xfrm>
            <a:off x="7955280" y="2084832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Adds Finnish terms: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pääomatulovero,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TVL 124 §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28" name="Retriever"/>
          <p:cNvSpPr txBox="1"/>
          <p:nvPr/>
        </p:nvSpPr>
        <p:spPr>
          <a:xfrm>
            <a:off x="8092440" y="3063240"/>
            <a:ext cx="1554480" cy="868680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triever label"/>
          <p:cNvSpPr txBox="1"/>
          <p:nvPr/>
        </p:nvSpPr>
        <p:spPr>
          <a:xfrm>
            <a:off x="8229600" y="32004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RETRIEVER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30" name="Retriever body"/>
          <p:cNvSpPr txBox="1"/>
          <p:nvPr/>
        </p:nvSpPr>
        <p:spPr>
          <a:xfrm>
            <a:off x="8229600" y="345643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Finds Vero /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Finlex sources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1" name="Answer"/>
          <p:cNvSpPr txBox="1"/>
          <p:nvPr/>
        </p:nvSpPr>
        <p:spPr>
          <a:xfrm>
            <a:off x="7452360" y="4526280"/>
            <a:ext cx="1554480" cy="841248"/>
          </a:xfrm>
          <a:prstGeom prst="rect">
            <a:avLst/>
          </a:prstGeom>
          <a:solidFill>
            <a:srgbClr val="FBF7EF"/>
          </a:solidFill>
          <a:ln w="9525">
            <a:solidFill>
              <a:srgbClr val="D8CE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Answer label"/>
          <p:cNvSpPr txBox="1"/>
          <p:nvPr/>
        </p:nvSpPr>
        <p:spPr>
          <a:xfrm>
            <a:off x="7589520" y="46634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F665D"/>
                </a:solidFill>
                <a:latin typeface="Aptos"/>
              </a:rPr>
              <a:t>ANSWER</a:t>
            </a:r>
            <a:endParaRPr lang="en-US" sz="750" dirty="0">
              <a:solidFill>
                <a:srgbClr val="6F665D"/>
              </a:solidFill>
              <a:latin typeface="Aptos"/>
            </a:endParaRPr>
          </a:p>
        </p:txBody>
      </p:sp>
      <p:sp>
        <p:nvSpPr>
          <p:cNvPr id="33" name="Answer body"/>
          <p:cNvSpPr txBox="1"/>
          <p:nvPr/>
        </p:nvSpPr>
        <p:spPr>
          <a:xfrm>
            <a:off x="7589520" y="491947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Cites source IDs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4" name="Verifier"/>
          <p:cNvSpPr txBox="1"/>
          <p:nvPr/>
        </p:nvSpPr>
        <p:spPr>
          <a:xfrm>
            <a:off x="9281160" y="4526280"/>
            <a:ext cx="1554480" cy="1051560"/>
          </a:xfrm>
          <a:prstGeom prst="rect">
            <a:avLst/>
          </a:prstGeom>
          <a:solidFill>
            <a:srgbClr val="F4DED4"/>
          </a:solidFill>
          <a:ln w="9525">
            <a:solidFill>
              <a:srgbClr val="D76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Verifier label"/>
          <p:cNvSpPr txBox="1"/>
          <p:nvPr/>
        </p:nvSpPr>
        <p:spPr>
          <a:xfrm>
            <a:off x="9418320" y="46634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D7623C"/>
                </a:solidFill>
                <a:latin typeface="Aptos"/>
              </a:rPr>
              <a:t>VERIFIER</a:t>
            </a:r>
            <a:endParaRPr lang="en-US" sz="750" dirty="0">
              <a:solidFill>
                <a:srgbClr val="D7623C"/>
              </a:solidFill>
              <a:latin typeface="Aptos"/>
            </a:endParaRPr>
          </a:p>
        </p:txBody>
      </p:sp>
      <p:sp>
        <p:nvSpPr>
          <p:cNvPr id="36" name="Verifier body"/>
          <p:cNvSpPr txBox="1"/>
          <p:nvPr/>
        </p:nvSpPr>
        <p:spPr>
          <a:xfrm>
            <a:off x="9418320" y="4919472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Checks 30% /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34% numeric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claims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sp>
        <p:nvSpPr>
          <p:cNvPr id="37" name="Evaluation"/>
          <p:cNvSpPr txBox="1"/>
          <p:nvPr/>
        </p:nvSpPr>
        <p:spPr>
          <a:xfrm>
            <a:off x="9829800" y="1691640"/>
            <a:ext cx="1325880" cy="2651760"/>
          </a:xfrm>
          <a:prstGeom prst="rect">
            <a:avLst/>
          </a:prstGeom>
          <a:solidFill>
            <a:srgbClr val="F4DED4"/>
          </a:solidFill>
          <a:ln w="9525">
            <a:solidFill>
              <a:srgbClr val="D76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Evaluation label"/>
          <p:cNvSpPr txBox="1"/>
          <p:nvPr/>
        </p:nvSpPr>
        <p:spPr>
          <a:xfrm>
            <a:off x="9966960" y="182880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D7623C"/>
                </a:solidFill>
                <a:latin typeface="Aptos"/>
              </a:rPr>
              <a:t>EVALUATION</a:t>
            </a:r>
            <a:endParaRPr lang="en-US" sz="750" dirty="0">
              <a:solidFill>
                <a:srgbClr val="D7623C"/>
              </a:solidFill>
              <a:latin typeface="Aptos"/>
            </a:endParaRPr>
          </a:p>
        </p:txBody>
      </p:sp>
      <p:sp>
        <p:nvSpPr>
          <p:cNvPr id="39" name="Evaluation body"/>
          <p:cNvSpPr txBox="1"/>
          <p:nvPr/>
        </p:nvSpPr>
        <p:spPr>
          <a:xfrm>
            <a:off x="9966960" y="2084832"/>
            <a:ext cx="105156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83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questions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70%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key-facts coverage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90.4%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citation rate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100%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  <a:p>
            <a:pPr algn="l"/>
            <a:r>
              <a:rPr lang="en-US" sz="1750" dirty="0">
                <a:solidFill>
                  <a:srgbClr val="17130F"/>
                </a:solidFill>
                <a:latin typeface="Georgia" panose="02040502050405020303"/>
              </a:rPr>
              <a:t>answered</a:t>
            </a:r>
            <a:endParaRPr lang="en-US" sz="1750" dirty="0">
              <a:solidFill>
                <a:srgbClr val="17130F"/>
              </a:solidFill>
              <a:latin typeface="Georgia" panose="02040502050405020303"/>
            </a:endParaRPr>
          </a:p>
        </p:txBody>
      </p:sp>
      <p:cxnSp>
        <p:nvCxnSpPr>
          <p:cNvPr id="40" name="Line"/>
          <p:cNvCxnSpPr/>
          <p:nvPr/>
        </p:nvCxnSpPr>
        <p:spPr>
          <a:xfrm flipV="1">
            <a:off x="7406640" y="2267712"/>
            <a:ext cx="411480" cy="9144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1" name="Line"/>
          <p:cNvCxnSpPr/>
          <p:nvPr/>
        </p:nvCxnSpPr>
        <p:spPr>
          <a:xfrm>
            <a:off x="8595360" y="2834640"/>
            <a:ext cx="274320" cy="22860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2" name="Line"/>
          <p:cNvCxnSpPr/>
          <p:nvPr/>
        </p:nvCxnSpPr>
        <p:spPr>
          <a:xfrm flipH="1">
            <a:off x="8229600" y="3931920"/>
            <a:ext cx="640080" cy="59436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3" name="Line"/>
          <p:cNvCxnSpPr/>
          <p:nvPr/>
        </p:nvCxnSpPr>
        <p:spPr>
          <a:xfrm>
            <a:off x="9006840" y="4956048"/>
            <a:ext cx="274320" cy="0"/>
          </a:xfrm>
          <a:prstGeom prst="line">
            <a:avLst/>
          </a:prstGeom>
          <a:ln w="12700">
            <a:solidFill>
              <a:srgbClr val="D7623C"/>
            </a:solidFill>
          </a:ln>
        </p:spPr>
      </p:cxnSp>
      <p:cxnSp>
        <p:nvCxnSpPr>
          <p:cNvPr id="44" name="Line"/>
          <p:cNvCxnSpPr/>
          <p:nvPr/>
        </p:nvCxnSpPr>
        <p:spPr>
          <a:xfrm>
            <a:off x="9372600" y="2240280"/>
            <a:ext cx="457200" cy="411480"/>
          </a:xfrm>
          <a:prstGeom prst="line">
            <a:avLst/>
          </a:prstGeom>
          <a:ln w="12700">
            <a:solidFill>
              <a:srgbClr val="D8CEC0"/>
            </a:solidFill>
          </a:ln>
        </p:spPr>
      </p:cxnSp>
      <p:sp>
        <p:nvSpPr>
          <p:cNvPr id="45" name="AutoShape 2" descr="问答流程与评估概览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6858000" cy="5360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Fixed 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WPS 演示</Application>
  <PresentationFormat>宽屏</PresentationFormat>
  <Paragraphs>78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PMingLiU</vt:lpstr>
      <vt:lpstr>Wingdings</vt:lpstr>
      <vt:lpstr>Aptos</vt:lpstr>
      <vt:lpstr>Segoe UI</vt:lpstr>
      <vt:lpstr>Georgia</vt:lpstr>
      <vt:lpstr>微软雅黑</vt:lpstr>
      <vt:lpstr>宋体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GraphRAG hybrid editable 789</dc:title>
  <dc:creator>Huashu Design export</dc:creator>
  <cp:lastModifiedBy>Yuki Han (Kevin)</cp:lastModifiedBy>
  <cp:revision>4</cp:revision>
  <dcterms:created xsi:type="dcterms:W3CDTF">2026-05-24T09:16:00Z</dcterms:created>
  <dcterms:modified xsi:type="dcterms:W3CDTF">2026-05-24T10:35:03Z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6C66F83916D74A33849BA537C16EF8EB_13</vt:lpwstr>
  </property>
  <property fmtid="{D5CDD505-2E9C-101B-9397-08002B2CF9AE}" pid="3" name="KSOProductBuildVer">
    <vt:lpwstr>3076-12.1.0.26372</vt:lpwstr>
  </property>
</Properties>
</file>